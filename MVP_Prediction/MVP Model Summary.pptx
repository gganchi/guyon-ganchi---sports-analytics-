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DA4BD-020C-4E34-81AF-93B8B589D52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D8BFA-7615-4154-B1A6-A845FE412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5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8BFA-7615-4154-B1A6-A845FE4123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8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F776-7A7A-7FB8-E650-29B60D453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344AC-9F22-3790-BBEB-09E56DBA0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AC16A-176A-EDF1-9D07-01FE437F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D865A-7DDE-A0A0-F171-40CCCE4E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26F2D-EAD9-4C26-60CD-6C173293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34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5061-4453-05EF-A587-0FAD638A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78316-21F6-F59C-20E6-45AA2DB59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E29C3-BA76-02BD-19EA-735704A8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D1A5-7343-1F5C-6988-7BDBB04C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A401C-33A9-DD6D-BC50-4095FF6A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5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11746-0AD4-C983-96D7-9BEDB302D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126B1-D622-75C9-2147-1541D9757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A027-AAFC-C409-A949-C08770E91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A22F9-1756-8BDF-ABC3-99ADF699B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372AE-581E-FFC1-89D3-F5C4F0368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974D-3CEB-A8AE-6C7A-3DC50701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92E8A-BA6B-507B-0A77-EA4CC3A40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0A6AC-3044-8ACE-A0C4-90643A24B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87DBB-BBAF-635A-46EC-4CFA13F7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D119-8C60-A115-E908-1501BF95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53097-FCA8-9F74-55FD-ECDE1A7F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48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C608-8E02-6E8B-BC0D-3DABB936C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2E818-D3AB-EAFE-4373-4422BF955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09628-6632-09FE-82B4-72D684F52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B9479-B1F1-512C-C119-F99ADA714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22ACC-66AF-B2E9-B810-B6273BD1F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54BE28-43CE-CA83-7D12-7A9A7F6A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7EEBBC-4CE5-76BF-55F6-E9B3C940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26E01B-45A7-B9AE-61DC-7A58F744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0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E88B-4C03-87E3-CD89-2878EC5F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B8EF29-D3E1-32F2-51D2-C1CC913F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4CDB0-66A1-6D89-3DEA-335EF7F92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33A1A-F97A-678E-D658-63FB0297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8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E5066-2A8B-15A3-7185-7E60AC2E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1BAF9-423B-8094-CC1F-ACA8A7A1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973EA-2EE7-5D9B-3E50-4FEBB2AA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69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0C6D-8624-1E16-E997-C5A81DD11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2C723-BB57-9D84-3AD4-664421F10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F058B-8284-3F66-9EE5-8BF004DD7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1D0B7-A4DE-258B-F66B-5A63DE00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9A88E-5028-C7BE-7533-AEA36C5F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339D-5368-C1C5-C217-4D922BC2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D6B4-C9DE-1424-D0D9-71F072FF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2B962D-87CD-639B-BDFB-513E5145D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CD26C-35A7-00FB-1FF4-ADB9EC1B5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B1727-C990-6BA2-9D80-9A115BF64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8D355-22A8-221E-97FC-B5D15EBE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71139-2EBE-6DC7-68D0-55777DC9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5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624A-A319-78B5-B286-7EA1A2FF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28F95-0083-0798-8EE5-A4E19B0BA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C0154-99A0-D891-9380-7B204B7C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42FD3-4C21-01D4-B139-4FC14E0F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04F0-2B68-BFE8-E76A-FC733903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2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9DF32-32C4-6589-0910-5D1A27D7D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DFA91-D99F-2BFE-2451-F6536D828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0C9F9-7D03-BBAF-6E5E-135516EE3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40EC3-DC0B-CE22-6C76-E2D98528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9E4BF-E870-A154-A925-7428164D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9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D8788-5EB6-85C9-E4BC-37C273A6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DCB8E-2D0A-415E-34AE-FFCDAFC6B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BBBB-BDD7-2087-599B-1CAB1E9A24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F8C7F-0744-4DF1-95D5-5B9710D105C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AAA5C-3B53-6945-72C3-B1153B48A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FCB78-D489-1285-CAA8-8F260F007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59A0F-26D3-46FB-9509-A6C926387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8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D69C-C3C6-DFB0-A54D-F3DDEBE0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Gathering &amp;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B71BC-4CCE-DCEB-FC84-CBC6C7F8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7359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Context/Sources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basketball-reference.com &amp; statmuse.com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from 2014-15 regular season to 2024-25 regular season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only the 3-point era since the playstyle is significantly different than dead ball era and 90s.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pandemic affected seasons (2019-2020 &amp; 2020-21)</a:t>
            </a:r>
          </a:p>
          <a:p>
            <a:pPr marL="914400" lvl="2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Considered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Counting Stats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PTS, REB, AST, STL, BLK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Shooting Splits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FG%, 3PT%, FT%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Stats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(regular) +/-, Usage Rate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Other Variables  Player’s Position, Team Wins, Win % w/o player, Voter Fatigue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4D82B-BC8C-79A7-45ED-6C9B7A4EC2ED}"/>
              </a:ext>
            </a:extLst>
          </p:cNvPr>
          <p:cNvSpPr txBox="1"/>
          <p:nvPr/>
        </p:nvSpPr>
        <p:spPr>
          <a:xfrm>
            <a:off x="838200" y="1337733"/>
            <a:ext cx="1065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and context used to scrape the appropriate data from different sources to create the MVP dataset with desired independent variables.</a:t>
            </a:r>
          </a:p>
        </p:txBody>
      </p:sp>
      <p:pic>
        <p:nvPicPr>
          <p:cNvPr id="5" name="Picture 4" descr="A logo of a basketball player&#10;&#10;Description automatically generated">
            <a:extLst>
              <a:ext uri="{FF2B5EF4-FFF2-40B4-BE49-F238E27FC236}">
                <a16:creationId xmlns:a16="http://schemas.microsoft.com/office/drawing/2014/main" id="{1C83DD74-D843-0E6B-C0E2-8D0AA76CF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035" y="0"/>
            <a:ext cx="1202267" cy="120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81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522"/>
    </mc:Choice>
    <mc:Fallback>
      <p:transition spd="slow" advTm="10252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5451-A0C8-4879-0ED7-324354C7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95C2-3E44-F337-2CBD-1EF04096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FB587-B83F-9D8B-96DB-476888023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683" y="1984064"/>
            <a:ext cx="4614333" cy="4351338"/>
          </a:xfrm>
        </p:spPr>
        <p:txBody>
          <a:bodyPr>
            <a:normAutofit fontScale="92500"/>
          </a:bodyPr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over Logistical Regression: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assumes linear relationships between predictors.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is more realistic since it accounts for non-linear relationships.</a:t>
            </a:r>
          </a:p>
          <a:p>
            <a:pPr lvl="1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over Random Forest: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MVP data being unbalanced (most of the data shows non-MVP winners compared to few winners), random forest models will struggle since they tend to favor the majority class and it splits randomly across trees, diluting signals from rare outcomes.</a:t>
            </a:r>
          </a:p>
          <a:p>
            <a:pPr lvl="2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Improvements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most likely overfitting due to a few reasons: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(only 10 seasons with minimal MVP winners)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very easy for a gradient boosting model to memorize small datasets rather than learning general patterns.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Improvements: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cross-validation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tree depth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weights for the independent variables</a:t>
            </a:r>
          </a:p>
          <a:p>
            <a:pPr lvl="2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data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793651C-D0CE-6B67-D6F6-C5527E860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418583"/>
              </p:ext>
            </p:extLst>
          </p:nvPr>
        </p:nvGraphicFramePr>
        <p:xfrm>
          <a:off x="5820832" y="2084338"/>
          <a:ext cx="3022600" cy="2106816"/>
        </p:xfrm>
        <a:graphic>
          <a:graphicData uri="http://schemas.openxmlformats.org/drawingml/2006/table">
            <a:tbl>
              <a:tblPr/>
              <a:tblGrid>
                <a:gridCol w="1107158">
                  <a:extLst>
                    <a:ext uri="{9D8B030D-6E8A-4147-A177-3AD203B41FA5}">
                      <a16:colId xmlns:a16="http://schemas.microsoft.com/office/drawing/2014/main" val="1519238711"/>
                    </a:ext>
                  </a:extLst>
                </a:gridCol>
                <a:gridCol w="1040536">
                  <a:extLst>
                    <a:ext uri="{9D8B030D-6E8A-4147-A177-3AD203B41FA5}">
                      <a16:colId xmlns:a16="http://schemas.microsoft.com/office/drawing/2014/main" val="2103995834"/>
                    </a:ext>
                  </a:extLst>
                </a:gridCol>
                <a:gridCol w="874906">
                  <a:extLst>
                    <a:ext uri="{9D8B030D-6E8A-4147-A177-3AD203B41FA5}">
                      <a16:colId xmlns:a16="http://schemas.microsoft.com/office/drawing/2014/main" val="2637874478"/>
                    </a:ext>
                  </a:extLst>
                </a:gridCol>
              </a:tblGrid>
              <a:tr h="6689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4320" marR="27432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420984"/>
                  </a:ext>
                </a:extLst>
              </a:tr>
              <a:tr h="479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7698"/>
                  </a:ext>
                </a:extLst>
              </a:tr>
              <a:tr h="479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500" b="0" i="0" u="none" strike="noStrik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528654"/>
                  </a:ext>
                </a:extLst>
              </a:tr>
              <a:tr h="4792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5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228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855467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BD953583-D2A2-6E83-6A00-B15464877AA4}"/>
              </a:ext>
            </a:extLst>
          </p:cNvPr>
          <p:cNvSpPr/>
          <p:nvPr/>
        </p:nvSpPr>
        <p:spPr>
          <a:xfrm>
            <a:off x="8974666" y="3031583"/>
            <a:ext cx="863600" cy="3386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B5EBEB-DF3F-0B50-20E3-62608929556F}"/>
              </a:ext>
            </a:extLst>
          </p:cNvPr>
          <p:cNvSpPr txBox="1"/>
          <p:nvPr/>
        </p:nvSpPr>
        <p:spPr>
          <a:xfrm>
            <a:off x="9804389" y="3016251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100% accuracy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7E4F903-C22B-3E36-A458-75CD6D1DA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092788"/>
              </p:ext>
            </p:extLst>
          </p:nvPr>
        </p:nvGraphicFramePr>
        <p:xfrm>
          <a:off x="5770033" y="4404197"/>
          <a:ext cx="3073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400">
                  <a:extLst>
                    <a:ext uri="{9D8B030D-6E8A-4147-A177-3AD203B41FA5}">
                      <a16:colId xmlns:a16="http://schemas.microsoft.com/office/drawing/2014/main" val="16602666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5 Variables (Importance)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62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Wins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09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Plus/Minus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9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Voter Fatigue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52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FG% and FT%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8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USG%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845777"/>
                  </a:ext>
                </a:extLst>
              </a:tr>
            </a:tbl>
          </a:graphicData>
        </a:graphic>
      </p:graphicFrame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B0B781E-3211-784B-E25F-EB343B640CB2}"/>
              </a:ext>
            </a:extLst>
          </p:cNvPr>
          <p:cNvSpPr txBox="1">
            <a:spLocks/>
          </p:cNvSpPr>
          <p:nvPr/>
        </p:nvSpPr>
        <p:spPr>
          <a:xfrm>
            <a:off x="5672667" y="1690688"/>
            <a:ext cx="4614333" cy="2762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8ED20C1-BF66-6559-AAE4-CCAB42686172}"/>
              </a:ext>
            </a:extLst>
          </p:cNvPr>
          <p:cNvSpPr/>
          <p:nvPr/>
        </p:nvSpPr>
        <p:spPr>
          <a:xfrm>
            <a:off x="8974666" y="5440363"/>
            <a:ext cx="863600" cy="3386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BCDF51-B055-D557-4A55-2DAE60F1E8D4}"/>
              </a:ext>
            </a:extLst>
          </p:cNvPr>
          <p:cNvSpPr txBox="1"/>
          <p:nvPr/>
        </p:nvSpPr>
        <p:spPr>
          <a:xfrm>
            <a:off x="9825562" y="4915941"/>
            <a:ext cx="22479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The model shows that predicting the MVP is mainly influenced by team success, voter fatigue, and on-court impact while a player’s individual efficiency and production is secondary, but also meaningful.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F7878-6400-52D1-848A-E9B0C2471939}"/>
              </a:ext>
            </a:extLst>
          </p:cNvPr>
          <p:cNvSpPr txBox="1"/>
          <p:nvPr/>
        </p:nvSpPr>
        <p:spPr>
          <a:xfrm>
            <a:off x="838200" y="1337733"/>
            <a:ext cx="1065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 behind choosing the best model to predict the MVP, the results of that model, and future improvements if this were done again.</a:t>
            </a:r>
          </a:p>
        </p:txBody>
      </p:sp>
      <p:pic>
        <p:nvPicPr>
          <p:cNvPr id="20" name="Picture 19" descr="A logo of a basketball player&#10;&#10;Description automatically generated">
            <a:extLst>
              <a:ext uri="{FF2B5EF4-FFF2-40B4-BE49-F238E27FC236}">
                <a16:creationId xmlns:a16="http://schemas.microsoft.com/office/drawing/2014/main" id="{F43790CF-1EF1-501F-B258-0289A6232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035" y="0"/>
            <a:ext cx="1202267" cy="120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29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143"/>
    </mc:Choice>
    <mc:Fallback>
      <p:transition spd="slow" advTm="9114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1177-4DFA-B613-5652-95994045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C595D-D70D-856A-F847-0930896B8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627"/>
            <a:ext cx="4682067" cy="3431390"/>
          </a:xfrm>
        </p:spPr>
        <p:txBody>
          <a:bodyPr/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Players to Predict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10 players listed on the “KIA 2025-26 MVP Ladder” as of 11/28/25 posting. 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www.nba.com/news/kia-mvp-ladder-nov-28-2025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stats used except: 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wins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team’s projected wins from basketball-reference.com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W/O Player  used team’s win % without player throughout their career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26CB4B-C27E-6234-47B4-03C538878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76536"/>
              </p:ext>
            </p:extLst>
          </p:nvPr>
        </p:nvGraphicFramePr>
        <p:xfrm>
          <a:off x="5715000" y="2068905"/>
          <a:ext cx="6231468" cy="3431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734">
                  <a:extLst>
                    <a:ext uri="{9D8B030D-6E8A-4147-A177-3AD203B41FA5}">
                      <a16:colId xmlns:a16="http://schemas.microsoft.com/office/drawing/2014/main" val="1524939793"/>
                    </a:ext>
                  </a:extLst>
                </a:gridCol>
                <a:gridCol w="3115734">
                  <a:extLst>
                    <a:ext uri="{9D8B030D-6E8A-4147-A177-3AD203B41FA5}">
                      <a16:colId xmlns:a16="http://schemas.microsoft.com/office/drawing/2014/main" val="3633514397"/>
                    </a:ext>
                  </a:extLst>
                </a:gridCol>
              </a:tblGrid>
              <a:tr h="349088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player_name</a:t>
                      </a:r>
                      <a:endParaRPr lang="en-US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826074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Nikola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Jokić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790176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Shai Gilgeous-Alexander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185080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Luka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Dončić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405023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Giannis Antetokounmpo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107087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Cade Cunningham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699493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Donovan Mitchell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69346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Victor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Wembanyama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582716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Tyrese Maxey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932094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Alperen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Sengun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3065"/>
                  </a:ext>
                </a:extLst>
              </a:tr>
              <a:tr h="30656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Jalen Johnson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9889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A64E93-50CC-285D-EBA5-74108656C337}"/>
              </a:ext>
            </a:extLst>
          </p:cNvPr>
          <p:cNvSpPr txBox="1"/>
          <p:nvPr/>
        </p:nvSpPr>
        <p:spPr>
          <a:xfrm>
            <a:off x="838200" y="1337733"/>
            <a:ext cx="1065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Inputting players’ statistics from the 2025-26 season to see what the model predicts as the likeliness of them winning the MVP. </a:t>
            </a:r>
          </a:p>
        </p:txBody>
      </p:sp>
      <p:pic>
        <p:nvPicPr>
          <p:cNvPr id="7" name="Picture 6" descr="A logo of a basketball player&#10;&#10;Description automatically generated">
            <a:extLst>
              <a:ext uri="{FF2B5EF4-FFF2-40B4-BE49-F238E27FC236}">
                <a16:creationId xmlns:a16="http://schemas.microsoft.com/office/drawing/2014/main" id="{319C07AB-04AC-8636-67D8-6C3E34CAD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035" y="0"/>
            <a:ext cx="1202267" cy="120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91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894"/>
    </mc:Choice>
    <mc:Fallback>
      <p:transition spd="slow" advTm="4189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557</TotalTime>
  <Words>494</Words>
  <Application>Microsoft Office PowerPoint</Application>
  <PresentationFormat>Widescreen</PresentationFormat>
  <Paragraphs>81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Data Gathering &amp; Variables</vt:lpstr>
      <vt:lpstr>Model &amp; Interpretation</vt:lpstr>
      <vt:lpstr>Prediction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Ganchi, Guyon</dc:creator>
  <cp:lastModifiedBy>Ganchi, Guyon</cp:lastModifiedBy>
  <cp:revision>10</cp:revision>
  <dcterms:created xsi:type="dcterms:W3CDTF">2025-12-01T14:48:32Z</dcterms:created>
  <dcterms:modified xsi:type="dcterms:W3CDTF">2025-12-03T03:23:14Z</dcterms:modified>
</cp:coreProperties>
</file>